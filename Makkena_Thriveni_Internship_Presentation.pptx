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mentors, coordinators, and fellow interns! My name is Makkena Thriveni. Today, I am proud and excited to present my journey in the Batch-7 Knowledge Factory Programme at CoastalSeven Technologies. Over these 25 intensive days culminating in our Day 25 Capstone, I evolved from classroom theory to architecting, load-testing, and deploying production-grade, AI-powered cloud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 joined CoastalSeven, I anticipated typical academic exercises. However, CoastalSeven exceeded all expectations. Instead of toy apps, we engineered ShopZone—a real, multi-tier platform with AI recommendation engines, Redis caching, Celery queues, and automated test pipelines. It shifted my perspective from just writing code to building reliable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journey was structured in four progressive phases: Starting with robust FastAPI backend foundations and security, advancing to modern React 19 UI with real-time WebSockets, integrating GenAI and RAG with ChromaDB and Celery for async tasks, and culminating in Day 25 Capstone—Gunicorn concurrency, database connection pooling, Locust load testing, and automated disaster recovery.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technical matrix I've mastered. On the core stack: FastAPI, React 19, and TypeScript. On AI: Retrieval-Augmented Generation with ChromaDB, paired with Celery distributed workers and Redis caching. On cloud, DevOps and Capstone: Gunicorn process supervision, PostgreSQL connection pooling, Docker resource limits, disaster recovery drills, and 100-user load testing meeting high-concurrency SLAs.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code, the personal transformation has been immense. We built a fully working, tested platform backed by 132 passing tests. More importantly, I developed architectural thinking: understanding why we need message brokers, how to secure microservices, and how to debug distributed containers. I feel confident approaching complex production software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express my deepest gratitude to Team CoastalSeven Technologies and our dedicated mentors. The Knowledge Factory Programme was rigorous, practical, and truly transformative. It gave me the skills, confidence, and mindset needed to thrive in modern software engineering. Thank you for this wonderful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your time and attention. I am now open to any questions, thoughts, or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66960" cy="2743200"/>
          </a:xfrm>
          <a:prstGeom prst="rect">
            <a:avLst/>
          </a:prstGeom>
          <a:noFill/>
        </p:spPr>
        <p:txBody>
          <a:bodyPr wrap="square">
            <a:spAutoFit/>
          </a:bodyPr>
          <a:lstStyle/>
          <a:p>
            <a:pPr>
              <a:spcAft>
                <a:spcPts val="1400"/>
              </a:spcAft>
              <a:defRPr sz="1300" b="1">
                <a:solidFill>
                  <a:srgbClr val="0EA5E9"/>
                </a:solidFill>
              </a:defRPr>
            </a:pPr>
            <a:r>
              <a:t>COASTALSEVEN TECHNOLOGIES • KNOWLEDGE FACTORY PROGRAMME</a:t>
            </a:r>
          </a:p>
          <a:p>
            <a:pPr>
              <a:spcAft>
                <a:spcPts val="1400"/>
              </a:spcAft>
              <a:defRPr sz="3200" b="1">
                <a:solidFill>
                  <a:srgbClr val="FFFFFF"/>
                </a:solidFill>
              </a:defRPr>
            </a:pPr>
            <a:r>
              <a:t>My Internship Journey: Transforming Into a Full-Stack &amp; AI Cloud Engineer</a:t>
            </a:r>
          </a:p>
          <a:p>
            <a:pPr>
              <a:defRPr sz="1800">
                <a:solidFill>
                  <a:srgbClr val="94A3B8"/>
                </a:solidFill>
              </a:defRPr>
            </a:pPr>
            <a:r>
              <a:t>A 25-Day Immersion: Full-Stack Web, Generative AI, Microservices, AWS DevOps &amp; Production Capstone</a:t>
            </a:r>
          </a:p>
        </p:txBody>
      </p:sp>
      <p:sp>
        <p:nvSpPr>
          <p:cNvPr id="5" name="Rounded Rectangle 4"/>
          <p:cNvSpPr/>
          <p:nvPr/>
        </p:nvSpPr>
        <p:spPr>
          <a:xfrm>
            <a:off x="1097280" y="4754880"/>
            <a:ext cx="996696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EA5E9"/>
                </a:solidFill>
              </a:defRPr>
            </a:pPr>
            <a:r>
              <a:t>PRESENTED BY:</a:t>
            </a:r>
          </a:p>
          <a:p>
            <a:pPr>
              <a:defRPr sz="1700" b="1">
                <a:solidFill>
                  <a:srgbClr val="FFFFFF"/>
                </a:solidFill>
              </a:defRPr>
            </a:pPr>
            <a:r>
              <a:t>Makkena Thriveni  |  Batch-7 Intern  |  Date: 16th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563EB"/>
                </a:solidFill>
              </a:defRPr>
            </a:pPr>
            <a:r>
              <a:t>BATCH-7 INTERNSHIP CLOSURE | COASTALSEVEN TECHNOLOGIES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0F172A"/>
                </a:solidFill>
              </a:defRPr>
            </a:pPr>
            <a:r>
              <a:t>Expectations vs. Reality: A Mindset Shift</a:t>
            </a:r>
          </a:p>
        </p:txBody>
      </p:sp>
      <p:sp>
        <p:nvSpPr>
          <p:cNvPr id="4" name="Rounded Rectangle 3"/>
          <p:cNvSpPr/>
          <p:nvPr/>
        </p:nvSpPr>
        <p:spPr>
          <a:xfrm>
            <a:off x="731520" y="1645920"/>
            <a:ext cx="512064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206240"/>
          </a:xfrm>
          <a:prstGeom prst="rect">
            <a:avLst/>
          </a:prstGeom>
          <a:noFill/>
        </p:spPr>
        <p:txBody>
          <a:bodyPr wrap="square">
            <a:spAutoFit/>
          </a:bodyPr>
          <a:lstStyle/>
          <a:p>
            <a:pPr>
              <a:defRPr sz="1000" b="1">
                <a:solidFill>
                  <a:srgbClr val="2563EB"/>
                </a:solidFill>
              </a:defRPr>
            </a:pPr>
            <a:r>
              <a:t>INITIAL PERSPECTIVE</a:t>
            </a:r>
          </a:p>
          <a:p>
            <a:pPr>
              <a:spcAft>
                <a:spcPts val="1000"/>
              </a:spcAft>
              <a:defRPr sz="1600" b="1">
                <a:solidFill>
                  <a:srgbClr val="0F172A"/>
                </a:solidFill>
              </a:defRPr>
            </a:pPr>
            <a:r>
              <a:t>What I Initially Expected</a:t>
            </a:r>
          </a:p>
          <a:p>
            <a:pPr>
              <a:spcAft>
                <a:spcPts val="600"/>
              </a:spcAft>
              <a:defRPr sz="1300">
                <a:solidFill>
                  <a:srgbClr val="1E293B"/>
                </a:solidFill>
              </a:defRPr>
            </a:pPr>
            <a:r>
              <a:t>•  Standard academic project or textbook assignments.</a:t>
            </a:r>
          </a:p>
          <a:p>
            <a:pPr>
              <a:spcAft>
                <a:spcPts val="600"/>
              </a:spcAft>
              <a:defRPr sz="1300">
                <a:solidFill>
                  <a:srgbClr val="1E293B"/>
                </a:solidFill>
              </a:defRPr>
            </a:pPr>
            <a:r>
              <a:t>•  Isolated coding tasks with simple CRUD operations.</a:t>
            </a:r>
          </a:p>
          <a:p>
            <a:pPr>
              <a:spcAft>
                <a:spcPts val="600"/>
              </a:spcAft>
              <a:defRPr sz="1300">
                <a:solidFill>
                  <a:srgbClr val="1E293B"/>
                </a:solidFill>
              </a:defRPr>
            </a:pPr>
            <a:r>
              <a:t>•  Running applications only on localhost:8000.</a:t>
            </a:r>
          </a:p>
          <a:p>
            <a:pPr>
              <a:spcAft>
                <a:spcPts val="600"/>
              </a:spcAft>
              <a:defRPr sz="1300">
                <a:solidFill>
                  <a:srgbClr val="1E293B"/>
                </a:solidFill>
              </a:defRPr>
            </a:pPr>
            <a:r>
              <a:t>•  Basic manual testing without automated quality gates.</a:t>
            </a:r>
          </a:p>
          <a:p>
            <a:pPr>
              <a:spcAft>
                <a:spcPts val="600"/>
              </a:spcAft>
              <a:defRPr sz="1300">
                <a:solidFill>
                  <a:srgbClr val="1E293B"/>
                </a:solidFill>
              </a:defRPr>
            </a:pPr>
            <a:r>
              <a:t>•  Theoretical exposure to AI and cloud concepts without real implementation.</a:t>
            </a:r>
          </a:p>
        </p:txBody>
      </p:sp>
      <p:sp>
        <p:nvSpPr>
          <p:cNvPr id="6" name="Rounded Rectangle 5"/>
          <p:cNvSpPr/>
          <p:nvPr/>
        </p:nvSpPr>
        <p:spPr>
          <a:xfrm>
            <a:off x="6217920" y="1645920"/>
            <a:ext cx="52120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06240"/>
          </a:xfrm>
          <a:prstGeom prst="rect">
            <a:avLst/>
          </a:prstGeom>
          <a:noFill/>
        </p:spPr>
        <p:txBody>
          <a:bodyPr wrap="square">
            <a:spAutoFit/>
          </a:bodyPr>
          <a:lstStyle/>
          <a:p>
            <a:pPr>
              <a:defRPr sz="1000" b="1">
                <a:solidFill>
                  <a:srgbClr val="2563EB"/>
                </a:solidFill>
              </a:defRPr>
            </a:pPr>
            <a:r>
              <a:t>THE REALITY &amp; TRANSFORMATION</a:t>
            </a:r>
          </a:p>
          <a:p>
            <a:pPr>
              <a:spcAft>
                <a:spcPts val="1000"/>
              </a:spcAft>
              <a:defRPr sz="1600" b="1">
                <a:solidFill>
                  <a:srgbClr val="0F172A"/>
                </a:solidFill>
              </a:defRPr>
            </a:pPr>
            <a:r>
              <a:t>What CoastalSeven Actually Delivered</a:t>
            </a:r>
          </a:p>
          <a:p>
            <a:pPr>
              <a:spcAft>
                <a:spcPts val="600"/>
              </a:spcAft>
              <a:defRPr sz="1300">
                <a:solidFill>
                  <a:srgbClr val="1E293B"/>
                </a:solidFill>
              </a:defRPr>
            </a:pPr>
            <a:r>
              <a:t>•  Enterprise Engineering: Building 'ShopZone' e-commerce platform.</a:t>
            </a:r>
          </a:p>
          <a:p>
            <a:pPr>
              <a:spcAft>
                <a:spcPts val="600"/>
              </a:spcAft>
              <a:defRPr sz="1300">
                <a:solidFill>
                  <a:srgbClr val="1E293B"/>
                </a:solidFill>
              </a:defRPr>
            </a:pPr>
            <a:r>
              <a:t>•  Full Stack Synergy: FastAPI backend + React 19 / Vite frontend.</a:t>
            </a:r>
          </a:p>
          <a:p>
            <a:pPr>
              <a:spcAft>
                <a:spcPts val="600"/>
              </a:spcAft>
              <a:defRPr sz="1300">
                <a:solidFill>
                  <a:srgbClr val="1E293B"/>
                </a:solidFill>
              </a:defRPr>
            </a:pPr>
            <a:r>
              <a:t>•  Real AI in Production: RAG semantic search, ChromaDB vectors, Gemini streaming.</a:t>
            </a:r>
          </a:p>
          <a:p>
            <a:pPr>
              <a:spcAft>
                <a:spcPts val="600"/>
              </a:spcAft>
              <a:defRPr sz="1300">
                <a:solidFill>
                  <a:srgbClr val="1E293B"/>
                </a:solidFill>
              </a:defRPr>
            </a:pPr>
            <a:r>
              <a:t>•  Async Architecture: Celery worker queues, Redis cache &amp; WebSockets.</a:t>
            </a:r>
          </a:p>
          <a:p>
            <a:pPr>
              <a:spcAft>
                <a:spcPts val="600"/>
              </a:spcAft>
              <a:defRPr sz="1300">
                <a:solidFill>
                  <a:srgbClr val="1E293B"/>
                </a:solidFill>
              </a:defRPr>
            </a:pPr>
            <a:r>
              <a:t>•  True DevOps: Docker Compose, Nginx reverse proxy, AWS EC2, and Vercel edge deployment.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563EB"/>
                </a:solidFill>
              </a:defRPr>
            </a:pPr>
            <a:r>
              <a:t>BATCH-7 INTERNSHIP CLOSURE | COASTALSEVEN TECHNOLOGIES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0F172A"/>
                </a:solidFill>
              </a:defRPr>
            </a:pPr>
            <a:r>
              <a:t>24-Day Journey: Milestones &amp; Architecture</a:t>
            </a:r>
          </a:p>
        </p:txBody>
      </p:sp>
      <p:sp>
        <p:nvSpPr>
          <p:cNvPr id="4" name="Rounded Rectangle 3"/>
          <p:cNvSpPr/>
          <p:nvPr/>
        </p:nvSpPr>
        <p:spPr>
          <a:xfrm>
            <a:off x="731520" y="1645920"/>
            <a:ext cx="24688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103120" cy="4206240"/>
          </a:xfrm>
          <a:prstGeom prst="rect">
            <a:avLst/>
          </a:prstGeom>
          <a:noFill/>
        </p:spPr>
        <p:txBody>
          <a:bodyPr wrap="square">
            <a:spAutoFit/>
          </a:bodyPr>
          <a:lstStyle/>
          <a:p>
            <a:pPr>
              <a:defRPr sz="1000" b="1">
                <a:solidFill>
                  <a:srgbClr val="2563EB"/>
                </a:solidFill>
              </a:defRPr>
            </a:pPr>
            <a:r>
              <a:t>DAYS 1 - 8</a:t>
            </a:r>
          </a:p>
          <a:p>
            <a:pPr>
              <a:spcAft>
                <a:spcPts val="1000"/>
              </a:spcAft>
              <a:defRPr sz="1600" b="1">
                <a:solidFill>
                  <a:srgbClr val="0F172A"/>
                </a:solidFill>
              </a:defRPr>
            </a:pPr>
            <a:r>
              <a:t>Phase 1: Backend</a:t>
            </a:r>
          </a:p>
          <a:p>
            <a:pPr>
              <a:spcAft>
                <a:spcPts val="600"/>
              </a:spcAft>
              <a:defRPr sz="1300">
                <a:solidFill>
                  <a:srgbClr val="1E293B"/>
                </a:solidFill>
              </a:defRPr>
            </a:pPr>
            <a:r>
              <a:t>•  FastAPI architecture.</a:t>
            </a:r>
          </a:p>
          <a:p>
            <a:pPr>
              <a:spcAft>
                <a:spcPts val="600"/>
              </a:spcAft>
              <a:defRPr sz="1300">
                <a:solidFill>
                  <a:srgbClr val="1E293B"/>
                </a:solidFill>
              </a:defRPr>
            </a:pPr>
            <a:r>
              <a:t>•  PostgreSQL &amp; SQLite dual engine.</a:t>
            </a:r>
          </a:p>
          <a:p>
            <a:pPr>
              <a:spcAft>
                <a:spcPts val="600"/>
              </a:spcAft>
              <a:defRPr sz="1300">
                <a:solidFill>
                  <a:srgbClr val="1E293B"/>
                </a:solidFill>
              </a:defRPr>
            </a:pPr>
            <a:r>
              <a:t>•  JWT auth &amp; RBAC permissions.</a:t>
            </a:r>
          </a:p>
          <a:p>
            <a:pPr>
              <a:spcAft>
                <a:spcPts val="600"/>
              </a:spcAft>
              <a:defRPr sz="1300">
                <a:solidFill>
                  <a:srgbClr val="1E293B"/>
                </a:solidFill>
              </a:defRPr>
            </a:pPr>
            <a:r>
              <a:t>•  Pydantic schema validation.</a:t>
            </a:r>
          </a:p>
          <a:p>
            <a:pPr>
              <a:spcAft>
                <a:spcPts val="600"/>
              </a:spcAft>
              <a:defRPr sz="1300">
                <a:solidFill>
                  <a:srgbClr val="1E293B"/>
                </a:solidFill>
              </a:defRPr>
            </a:pPr>
            <a:r>
              <a:t>•  Secure password hashing.</a:t>
            </a:r>
          </a:p>
        </p:txBody>
      </p:sp>
      <p:sp>
        <p:nvSpPr>
          <p:cNvPr id="6" name="Rounded Rectangle 5"/>
          <p:cNvSpPr/>
          <p:nvPr/>
        </p:nvSpPr>
        <p:spPr>
          <a:xfrm>
            <a:off x="3474720" y="1645920"/>
            <a:ext cx="24688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1828800"/>
            <a:ext cx="2103120" cy="4206240"/>
          </a:xfrm>
          <a:prstGeom prst="rect">
            <a:avLst/>
          </a:prstGeom>
          <a:noFill/>
        </p:spPr>
        <p:txBody>
          <a:bodyPr wrap="square">
            <a:spAutoFit/>
          </a:bodyPr>
          <a:lstStyle/>
          <a:p>
            <a:pPr>
              <a:defRPr sz="1000" b="1">
                <a:solidFill>
                  <a:srgbClr val="2563EB"/>
                </a:solidFill>
              </a:defRPr>
            </a:pPr>
            <a:r>
              <a:t>DAYS 9 - 15</a:t>
            </a:r>
          </a:p>
          <a:p>
            <a:pPr>
              <a:spcAft>
                <a:spcPts val="1000"/>
              </a:spcAft>
              <a:defRPr sz="1600" b="1">
                <a:solidFill>
                  <a:srgbClr val="0F172A"/>
                </a:solidFill>
              </a:defRPr>
            </a:pPr>
            <a:r>
              <a:t>Phase 2: Frontend</a:t>
            </a:r>
          </a:p>
          <a:p>
            <a:pPr>
              <a:spcAft>
                <a:spcPts val="600"/>
              </a:spcAft>
              <a:defRPr sz="1300">
                <a:solidFill>
                  <a:srgbClr val="1E293B"/>
                </a:solidFill>
              </a:defRPr>
            </a:pPr>
            <a:r>
              <a:t>•  React 19 + Vite 8 SPA.</a:t>
            </a:r>
          </a:p>
          <a:p>
            <a:pPr>
              <a:spcAft>
                <a:spcPts val="600"/>
              </a:spcAft>
              <a:defRPr sz="1300">
                <a:solidFill>
                  <a:srgbClr val="1E293B"/>
                </a:solidFill>
              </a:defRPr>
            </a:pPr>
            <a:r>
              <a:t>•  Zustand state management.</a:t>
            </a:r>
          </a:p>
          <a:p>
            <a:pPr>
              <a:spcAft>
                <a:spcPts val="600"/>
              </a:spcAft>
              <a:defRPr sz="1300">
                <a:solidFill>
                  <a:srgbClr val="1E293B"/>
                </a:solidFill>
              </a:defRPr>
            </a:pPr>
            <a:r>
              <a:t>•  Responsive shopping bag &amp; orders.</a:t>
            </a:r>
          </a:p>
          <a:p>
            <a:pPr>
              <a:spcAft>
                <a:spcPts val="600"/>
              </a:spcAft>
              <a:defRPr sz="1300">
                <a:solidFill>
                  <a:srgbClr val="1E293B"/>
                </a:solidFill>
              </a:defRPr>
            </a:pPr>
            <a:r>
              <a:t>•  Live WebSocket chat widget.</a:t>
            </a:r>
          </a:p>
          <a:p>
            <a:pPr>
              <a:spcAft>
                <a:spcPts val="600"/>
              </a:spcAft>
              <a:defRPr sz="1300">
                <a:solidFill>
                  <a:srgbClr val="1E293B"/>
                </a:solidFill>
              </a:defRPr>
            </a:pPr>
            <a:r>
              <a:t>•  Dark &amp; Light mode themes.</a:t>
            </a:r>
          </a:p>
        </p:txBody>
      </p:sp>
      <p:sp>
        <p:nvSpPr>
          <p:cNvPr id="8" name="Rounded Rectangle 7"/>
          <p:cNvSpPr/>
          <p:nvPr/>
        </p:nvSpPr>
        <p:spPr>
          <a:xfrm>
            <a:off x="6217920" y="1645920"/>
            <a:ext cx="24688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2103120" cy="4206240"/>
          </a:xfrm>
          <a:prstGeom prst="rect">
            <a:avLst/>
          </a:prstGeom>
          <a:noFill/>
        </p:spPr>
        <p:txBody>
          <a:bodyPr wrap="square">
            <a:spAutoFit/>
          </a:bodyPr>
          <a:lstStyle/>
          <a:p>
            <a:pPr>
              <a:defRPr sz="1000" b="1">
                <a:solidFill>
                  <a:srgbClr val="2563EB"/>
                </a:solidFill>
              </a:defRPr>
            </a:pPr>
            <a:r>
              <a:t>DAYS 16 - 22</a:t>
            </a:r>
          </a:p>
          <a:p>
            <a:pPr>
              <a:spcAft>
                <a:spcPts val="1000"/>
              </a:spcAft>
              <a:defRPr sz="1600" b="1">
                <a:solidFill>
                  <a:srgbClr val="0F172A"/>
                </a:solidFill>
              </a:defRPr>
            </a:pPr>
            <a:r>
              <a:t>Phase 3: AI &amp; Scale</a:t>
            </a:r>
          </a:p>
          <a:p>
            <a:pPr>
              <a:spcAft>
                <a:spcPts val="600"/>
              </a:spcAft>
              <a:defRPr sz="1300">
                <a:solidFill>
                  <a:srgbClr val="1E293B"/>
                </a:solidFill>
              </a:defRPr>
            </a:pPr>
            <a:r>
              <a:t>•  Gemini Generative AI.</a:t>
            </a:r>
          </a:p>
          <a:p>
            <a:pPr>
              <a:spcAft>
                <a:spcPts val="600"/>
              </a:spcAft>
              <a:defRPr sz="1300">
                <a:solidFill>
                  <a:srgbClr val="1E293B"/>
                </a:solidFill>
              </a:defRPr>
            </a:pPr>
            <a:r>
              <a:t>•  RAG Semantic Search.</a:t>
            </a:r>
          </a:p>
          <a:p>
            <a:pPr>
              <a:spcAft>
                <a:spcPts val="600"/>
              </a:spcAft>
              <a:defRPr sz="1300">
                <a:solidFill>
                  <a:srgbClr val="1E293B"/>
                </a:solidFill>
              </a:defRPr>
            </a:pPr>
            <a:r>
              <a:t>•  ChromaDB vector database.</a:t>
            </a:r>
          </a:p>
          <a:p>
            <a:pPr>
              <a:spcAft>
                <a:spcPts val="600"/>
              </a:spcAft>
              <a:defRPr sz="1300">
                <a:solidFill>
                  <a:srgbClr val="1E293B"/>
                </a:solidFill>
              </a:defRPr>
            </a:pPr>
            <a:r>
              <a:t>•  Celery async background tasks.</a:t>
            </a:r>
          </a:p>
          <a:p>
            <a:pPr>
              <a:spcAft>
                <a:spcPts val="600"/>
              </a:spcAft>
              <a:defRPr sz="1300">
                <a:solidFill>
                  <a:srgbClr val="1E293B"/>
                </a:solidFill>
              </a:defRPr>
            </a:pPr>
            <a:r>
              <a:t>•  Redis 7 caching &amp; broker.</a:t>
            </a:r>
          </a:p>
        </p:txBody>
      </p:sp>
      <p:sp>
        <p:nvSpPr>
          <p:cNvPr id="10" name="Rounded Rectangle 9"/>
          <p:cNvSpPr/>
          <p:nvPr/>
        </p:nvSpPr>
        <p:spPr>
          <a:xfrm>
            <a:off x="8961120" y="1645920"/>
            <a:ext cx="24688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1828800"/>
            <a:ext cx="2103120" cy="4206240"/>
          </a:xfrm>
          <a:prstGeom prst="rect">
            <a:avLst/>
          </a:prstGeom>
          <a:noFill/>
        </p:spPr>
        <p:txBody>
          <a:bodyPr wrap="square">
            <a:spAutoFit/>
          </a:bodyPr>
          <a:lstStyle/>
          <a:p>
            <a:pPr>
              <a:defRPr sz="1000" b="1">
                <a:solidFill>
                  <a:srgbClr val="2563EB"/>
                </a:solidFill>
              </a:defRPr>
            </a:pPr>
            <a:r>
              <a:t>DAYS 23 - 25</a:t>
            </a:r>
          </a:p>
          <a:p>
            <a:pPr>
              <a:spcAft>
                <a:spcPts val="1000"/>
              </a:spcAft>
              <a:defRPr sz="1600" b="1">
                <a:solidFill>
                  <a:srgbClr val="0F172A"/>
                </a:solidFill>
              </a:defRPr>
            </a:pPr>
            <a:r>
              <a:t>Phase 4: Cloud &amp; Capstone</a:t>
            </a:r>
          </a:p>
          <a:p>
            <a:pPr>
              <a:spcAft>
                <a:spcPts val="600"/>
              </a:spcAft>
              <a:defRPr sz="1300">
                <a:solidFill>
                  <a:srgbClr val="1E293B"/>
                </a:solidFill>
              </a:defRPr>
            </a:pPr>
            <a:r>
              <a:t>•  Gunicorn + Uvicorn workers.</a:t>
            </a:r>
          </a:p>
          <a:p>
            <a:pPr>
              <a:spcAft>
                <a:spcPts val="600"/>
              </a:spcAft>
              <a:defRPr sz="1300">
                <a:solidFill>
                  <a:srgbClr val="1E293B"/>
                </a:solidFill>
              </a:defRPr>
            </a:pPr>
            <a:r>
              <a:t>•  PostgreSQL QueuePool tuning.</a:t>
            </a:r>
          </a:p>
          <a:p>
            <a:pPr>
              <a:spcAft>
                <a:spcPts val="600"/>
              </a:spcAft>
              <a:defRPr sz="1300">
                <a:solidFill>
                  <a:srgbClr val="1E293B"/>
                </a:solidFill>
              </a:defRPr>
            </a:pPr>
            <a:r>
              <a:t>•  Locust 100-user load testing.</a:t>
            </a:r>
          </a:p>
          <a:p>
            <a:pPr>
              <a:spcAft>
                <a:spcPts val="600"/>
              </a:spcAft>
              <a:defRPr sz="1300">
                <a:solidFill>
                  <a:srgbClr val="1E293B"/>
                </a:solidFill>
              </a:defRPr>
            </a:pPr>
            <a:r>
              <a:t>•  Docker CPU/memory limits.</a:t>
            </a:r>
          </a:p>
          <a:p>
            <a:pPr>
              <a:spcAft>
                <a:spcPts val="600"/>
              </a:spcAft>
              <a:defRPr sz="1300">
                <a:solidFill>
                  <a:srgbClr val="1E293B"/>
                </a:solidFill>
              </a:defRPr>
            </a:pPr>
            <a:r>
              <a:t>•  pg_dump automated backups.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563EB"/>
                </a:solidFill>
              </a:defRPr>
            </a:pPr>
            <a:r>
              <a:t>BATCH-7 INTERNSHIP CLOSURE | COASTALSEVEN TECHNOLOGIES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0F172A"/>
                </a:solidFill>
              </a:defRPr>
            </a:pPr>
            <a:r>
              <a:t>Technical Skills &amp; Competency Matrix</a:t>
            </a:r>
          </a:p>
        </p:txBody>
      </p:sp>
      <p:sp>
        <p:nvSpPr>
          <p:cNvPr id="4" name="Rounded Rectangle 3"/>
          <p:cNvSpPr/>
          <p:nvPr/>
        </p:nvSpPr>
        <p:spPr>
          <a:xfrm>
            <a:off x="731520" y="1645920"/>
            <a:ext cx="33832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206240"/>
          </a:xfrm>
          <a:prstGeom prst="rect">
            <a:avLst/>
          </a:prstGeom>
          <a:noFill/>
        </p:spPr>
        <p:txBody>
          <a:bodyPr wrap="square">
            <a:spAutoFit/>
          </a:bodyPr>
          <a:lstStyle/>
          <a:p>
            <a:pPr>
              <a:defRPr sz="1000" b="1">
                <a:solidFill>
                  <a:srgbClr val="2563EB"/>
                </a:solidFill>
              </a:defRPr>
            </a:pPr>
            <a:r>
              <a:t>APPLICATION CORE</a:t>
            </a:r>
          </a:p>
          <a:p>
            <a:pPr>
              <a:spcAft>
                <a:spcPts val="1000"/>
              </a:spcAft>
              <a:defRPr sz="1600" b="1">
                <a:solidFill>
                  <a:srgbClr val="0F172A"/>
                </a:solidFill>
              </a:defRPr>
            </a:pPr>
            <a:r>
              <a:t>Full-Stack Development</a:t>
            </a:r>
          </a:p>
          <a:p>
            <a:pPr>
              <a:spcAft>
                <a:spcPts val="600"/>
              </a:spcAft>
              <a:defRPr sz="1300">
                <a:solidFill>
                  <a:srgbClr val="1E293B"/>
                </a:solidFill>
              </a:defRPr>
            </a:pPr>
            <a:r>
              <a:t>•  FastAPI &amp; Python 3.14: Async endpoints, middleware, dependency injection.</a:t>
            </a:r>
          </a:p>
          <a:p>
            <a:pPr>
              <a:spcAft>
                <a:spcPts val="600"/>
              </a:spcAft>
              <a:defRPr sz="1300">
                <a:solidFill>
                  <a:srgbClr val="1E293B"/>
                </a:solidFill>
              </a:defRPr>
            </a:pPr>
            <a:r>
              <a:t>•  React 19 &amp; TypeScript: Component lifecycle, hooks, and responsive UX.</a:t>
            </a:r>
          </a:p>
          <a:p>
            <a:pPr>
              <a:spcAft>
                <a:spcPts val="600"/>
              </a:spcAft>
              <a:defRPr sz="1300">
                <a:solidFill>
                  <a:srgbClr val="1E293B"/>
                </a:solidFill>
              </a:defRPr>
            </a:pPr>
            <a:r>
              <a:t>•  PostgreSQL &amp; SQLite: Complex relational queries, foreign keys, migrations.</a:t>
            </a:r>
          </a:p>
          <a:p>
            <a:pPr>
              <a:spcAft>
                <a:spcPts val="600"/>
              </a:spcAft>
              <a:defRPr sz="1300">
                <a:solidFill>
                  <a:srgbClr val="1E293B"/>
                </a:solidFill>
              </a:defRPr>
            </a:pPr>
            <a:r>
              <a:t>•  Real-Time WebSockets: Bi-directional communication for live support chat.</a:t>
            </a:r>
          </a:p>
        </p:txBody>
      </p:sp>
      <p:sp>
        <p:nvSpPr>
          <p:cNvPr id="6" name="Rounded Rectangle 5"/>
          <p:cNvSpPr/>
          <p:nvPr/>
        </p:nvSpPr>
        <p:spPr>
          <a:xfrm>
            <a:off x="4389120" y="1645920"/>
            <a:ext cx="33832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206240"/>
          </a:xfrm>
          <a:prstGeom prst="rect">
            <a:avLst/>
          </a:prstGeom>
          <a:noFill/>
        </p:spPr>
        <p:txBody>
          <a:bodyPr wrap="square">
            <a:spAutoFit/>
          </a:bodyPr>
          <a:lstStyle/>
          <a:p>
            <a:pPr>
              <a:defRPr sz="1000" b="1">
                <a:solidFill>
                  <a:srgbClr val="2563EB"/>
                </a:solidFill>
              </a:defRPr>
            </a:pPr>
            <a:r>
              <a:t>ARTIFICIAL INTELLIGENCE</a:t>
            </a:r>
          </a:p>
          <a:p>
            <a:pPr>
              <a:spcAft>
                <a:spcPts val="1000"/>
              </a:spcAft>
              <a:defRPr sz="1600" b="1">
                <a:solidFill>
                  <a:srgbClr val="0F172A"/>
                </a:solidFill>
              </a:defRPr>
            </a:pPr>
            <a:r>
              <a:t>AI &amp; Asynchronous Processing</a:t>
            </a:r>
          </a:p>
          <a:p>
            <a:pPr>
              <a:spcAft>
                <a:spcPts val="600"/>
              </a:spcAft>
              <a:defRPr sz="1300">
                <a:solidFill>
                  <a:srgbClr val="1E293B"/>
                </a:solidFill>
              </a:defRPr>
            </a:pPr>
            <a:r>
              <a:t>•  RAG Architecture: Retrieving relevant catalog context for LLMs.</a:t>
            </a:r>
          </a:p>
          <a:p>
            <a:pPr>
              <a:spcAft>
                <a:spcPts val="600"/>
              </a:spcAft>
              <a:defRPr sz="1300">
                <a:solidFill>
                  <a:srgbClr val="1E293B"/>
                </a:solidFill>
              </a:defRPr>
            </a:pPr>
            <a:r>
              <a:t>•  ChromaDB: Embedding storage, similarity search, and index management.</a:t>
            </a:r>
          </a:p>
          <a:p>
            <a:pPr>
              <a:spcAft>
                <a:spcPts val="600"/>
              </a:spcAft>
              <a:defRPr sz="1300">
                <a:solidFill>
                  <a:srgbClr val="1E293B"/>
                </a:solidFill>
              </a:defRPr>
            </a:pPr>
            <a:r>
              <a:t>•  Celery &amp; Redis: Background invoice PDF generation &amp; catalog reindexing.</a:t>
            </a:r>
          </a:p>
          <a:p>
            <a:pPr>
              <a:spcAft>
                <a:spcPts val="600"/>
              </a:spcAft>
              <a:defRPr sz="1300">
                <a:solidFill>
                  <a:srgbClr val="1E293B"/>
                </a:solidFill>
              </a:defRPr>
            </a:pPr>
            <a:r>
              <a:t>•  Redis AI Cache: Sub-millisecond response caching for chat queries.</a:t>
            </a:r>
          </a:p>
        </p:txBody>
      </p:sp>
      <p:sp>
        <p:nvSpPr>
          <p:cNvPr id="8" name="Rounded Rectangle 7"/>
          <p:cNvSpPr/>
          <p:nvPr/>
        </p:nvSpPr>
        <p:spPr>
          <a:xfrm>
            <a:off x="8046720" y="1645920"/>
            <a:ext cx="33832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206240"/>
          </a:xfrm>
          <a:prstGeom prst="rect">
            <a:avLst/>
          </a:prstGeom>
          <a:noFill/>
        </p:spPr>
        <p:txBody>
          <a:bodyPr wrap="square">
            <a:spAutoFit/>
          </a:bodyPr>
          <a:lstStyle/>
          <a:p>
            <a:pPr>
              <a:defRPr sz="1000" b="1">
                <a:solidFill>
                  <a:srgbClr val="2563EB"/>
                </a:solidFill>
              </a:defRPr>
            </a:pPr>
            <a:r>
              <a:t>PRODUCTION &amp; CAPSTONE</a:t>
            </a:r>
          </a:p>
          <a:p>
            <a:pPr>
              <a:spcAft>
                <a:spcPts val="1000"/>
              </a:spcAft>
              <a:defRPr sz="1600" b="1">
                <a:solidFill>
                  <a:srgbClr val="0F172A"/>
                </a:solidFill>
              </a:defRPr>
            </a:pPr>
            <a:r>
              <a:t>Cloud, DevOps &amp; Capstone</a:t>
            </a:r>
          </a:p>
          <a:p>
            <a:pPr>
              <a:spcAft>
                <a:spcPts val="600"/>
              </a:spcAft>
              <a:defRPr sz="1300">
                <a:solidFill>
                  <a:srgbClr val="1E293B"/>
                </a:solidFill>
              </a:defRPr>
            </a:pPr>
            <a:r>
              <a:t>•  Gunicorn &amp; Uvicorn: Production multi-worker process management.</a:t>
            </a:r>
          </a:p>
          <a:p>
            <a:pPr>
              <a:spcAft>
                <a:spcPts val="600"/>
              </a:spcAft>
              <a:defRPr sz="1300">
                <a:solidFill>
                  <a:srgbClr val="1E293B"/>
                </a:solidFill>
              </a:defRPr>
            </a:pPr>
            <a:r>
              <a:t>•  QueuePool Tuning: PostgreSQL connection pooling for 100 users.</a:t>
            </a:r>
          </a:p>
          <a:p>
            <a:pPr>
              <a:spcAft>
                <a:spcPts val="600"/>
              </a:spcAft>
              <a:defRPr sz="1300">
                <a:solidFill>
                  <a:srgbClr val="1E293B"/>
                </a:solidFill>
              </a:defRPr>
            </a:pPr>
            <a:r>
              <a:t>•  Docker Governance: CPU &amp; memory limits, log rotation on 7 containers.</a:t>
            </a:r>
          </a:p>
          <a:p>
            <a:pPr>
              <a:spcAft>
                <a:spcPts val="600"/>
              </a:spcAft>
              <a:defRPr sz="1300">
                <a:solidFill>
                  <a:srgbClr val="1E293B"/>
                </a:solidFill>
              </a:defRPr>
            </a:pPr>
            <a:r>
              <a:t>•  Disaster Recovery: Automated pg_dump backups with SHA-256.</a:t>
            </a:r>
          </a:p>
          <a:p>
            <a:pPr>
              <a:spcAft>
                <a:spcPts val="600"/>
              </a:spcAft>
              <a:defRPr sz="1300">
                <a:solidFill>
                  <a:srgbClr val="1E293B"/>
                </a:solidFill>
              </a:defRPr>
            </a:pPr>
            <a:r>
              <a:t>•  Locust Load SLA: 100 users, 405 RPS, p95 46ms, 0.00% errors.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563EB"/>
                </a:solidFill>
              </a:defRPr>
            </a:pPr>
            <a:r>
              <a:t>BATCH-7 INTERNSHIP CLOSURE | COASTALSEVEN TECHNOLOGIES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0F172A"/>
                </a:solidFill>
              </a:defRPr>
            </a:pPr>
            <a:r>
              <a:t>Key Achievements &amp; Professional Growth</a:t>
            </a:r>
          </a:p>
        </p:txBody>
      </p:sp>
      <p:sp>
        <p:nvSpPr>
          <p:cNvPr id="4" name="Rounded Rectangle 3"/>
          <p:cNvSpPr/>
          <p:nvPr/>
        </p:nvSpPr>
        <p:spPr>
          <a:xfrm>
            <a:off x="731520" y="1645920"/>
            <a:ext cx="3291840" cy="1188720"/>
          </a:xfrm>
          <a:prstGeom prst="roundRect">
            <a:avLst/>
          </a:prstGeom>
          <a:solidFill>
            <a:srgbClr val="F1F5F9"/>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2563EB"/>
                </a:solidFill>
              </a:defRPr>
            </a:pPr>
            <a:r>
              <a:t>132 / 132 TESTS</a:t>
            </a:r>
          </a:p>
          <a:p>
            <a:pPr>
              <a:defRPr sz="1200">
                <a:solidFill>
                  <a:srgbClr val="1E293B"/>
                </a:solidFill>
              </a:defRPr>
            </a:pPr>
            <a:r>
              <a:t>100% Pass Rate across Unit, Integration &amp; UI suites</a:t>
            </a:r>
          </a:p>
        </p:txBody>
      </p:sp>
      <p:sp>
        <p:nvSpPr>
          <p:cNvPr id="5" name="Rounded Rectangle 4"/>
          <p:cNvSpPr/>
          <p:nvPr/>
        </p:nvSpPr>
        <p:spPr>
          <a:xfrm>
            <a:off x="4389120" y="1645920"/>
            <a:ext cx="3383280" cy="1188720"/>
          </a:xfrm>
          <a:prstGeom prst="roundRect">
            <a:avLst/>
          </a:prstGeom>
          <a:solidFill>
            <a:srgbClr val="F1F5F9"/>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0B981"/>
                </a:solidFill>
              </a:defRPr>
            </a:pPr>
            <a:r>
              <a:t>COMPLETE SHOPZONE</a:t>
            </a:r>
          </a:p>
          <a:p>
            <a:pPr>
              <a:defRPr sz="1200">
                <a:solidFill>
                  <a:srgbClr val="1E293B"/>
                </a:solidFill>
              </a:defRPr>
            </a:pPr>
            <a:r>
              <a:t>End-to-End E-Commerce Platform Built from Scratch</a:t>
            </a:r>
          </a:p>
        </p:txBody>
      </p:sp>
      <p:sp>
        <p:nvSpPr>
          <p:cNvPr id="6" name="Rounded Rectangle 5"/>
          <p:cNvSpPr/>
          <p:nvPr/>
        </p:nvSpPr>
        <p:spPr>
          <a:xfrm>
            <a:off x="8046720" y="1645920"/>
            <a:ext cx="3383280" cy="1188720"/>
          </a:xfrm>
          <a:prstGeom prst="roundRect">
            <a:avLst/>
          </a:prstGeom>
          <a:solidFill>
            <a:srgbClr val="F1F5F9"/>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0EA5E9"/>
                </a:solidFill>
              </a:defRPr>
            </a:pPr>
            <a:r>
              <a:t>CLOUD DEPLOYED</a:t>
            </a:r>
          </a:p>
          <a:p>
            <a:pPr>
              <a:defRPr sz="1200">
                <a:solidFill>
                  <a:srgbClr val="1E293B"/>
                </a:solidFill>
              </a:defRPr>
            </a:pPr>
            <a:r>
              <a:t>Live Docker Compose, AWS EC2 &amp; Vercel Services</a:t>
            </a:r>
          </a:p>
        </p:txBody>
      </p:sp>
      <p:sp>
        <p:nvSpPr>
          <p:cNvPr id="7" name="Rounded Rectangle 6"/>
          <p:cNvSpPr/>
          <p:nvPr/>
        </p:nvSpPr>
        <p:spPr>
          <a:xfrm>
            <a:off x="731520" y="3108960"/>
            <a:ext cx="10698480" cy="32004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91840"/>
            <a:ext cx="10332720" cy="2834640"/>
          </a:xfrm>
          <a:prstGeom prst="rect">
            <a:avLst/>
          </a:prstGeom>
          <a:noFill/>
        </p:spPr>
        <p:txBody>
          <a:bodyPr wrap="square">
            <a:spAutoFit/>
          </a:bodyPr>
          <a:lstStyle/>
          <a:p>
            <a:pPr>
              <a:defRPr sz="1000" b="1">
                <a:solidFill>
                  <a:srgbClr val="2563EB"/>
                </a:solidFill>
              </a:defRPr>
            </a:pPr>
            <a:r>
              <a:t>MINDSET &amp; CAPABILITIES</a:t>
            </a:r>
          </a:p>
          <a:p>
            <a:pPr>
              <a:spcAft>
                <a:spcPts val="1000"/>
              </a:spcAft>
              <a:defRPr sz="1600" b="1">
                <a:solidFill>
                  <a:srgbClr val="0F172A"/>
                </a:solidFill>
              </a:defRPr>
            </a:pPr>
            <a:r>
              <a:t>Core Growth Highlights</a:t>
            </a:r>
          </a:p>
          <a:p>
            <a:pPr>
              <a:spcAft>
                <a:spcPts val="600"/>
              </a:spcAft>
              <a:defRPr sz="1300">
                <a:solidFill>
                  <a:srgbClr val="1E293B"/>
                </a:solidFill>
              </a:defRPr>
            </a:pPr>
            <a:r>
              <a:t>•  From Student to Software Engineer: Overcame the fear of debugging complex system errors, asynchronous race conditions, and container networking.</a:t>
            </a:r>
          </a:p>
          <a:p>
            <a:pPr>
              <a:spcAft>
                <a:spcPts val="600"/>
              </a:spcAft>
              <a:defRPr sz="1300">
                <a:solidFill>
                  <a:srgbClr val="1E293B"/>
                </a:solidFill>
              </a:defRPr>
            </a:pPr>
            <a:r>
              <a:t>•  Architectural Thinking: Learned to design for scalability—separating heavy tasks into Celery queues and caching expensive queries in Redis.</a:t>
            </a:r>
          </a:p>
          <a:p>
            <a:pPr>
              <a:spcAft>
                <a:spcPts val="600"/>
              </a:spcAft>
              <a:defRPr sz="1300">
                <a:solidFill>
                  <a:srgbClr val="1E293B"/>
                </a:solidFill>
              </a:defRPr>
            </a:pPr>
            <a:r>
              <a:t>•  Security-First Mindset: Implemented PII redaction, JWT token expiry, CORS policies, and IAM least privilege rather than leaving credentials exposed.</a:t>
            </a:r>
          </a:p>
          <a:p>
            <a:pPr>
              <a:spcAft>
                <a:spcPts val="600"/>
              </a:spcAft>
              <a:defRPr sz="1300">
                <a:solidFill>
                  <a:srgbClr val="1E293B"/>
                </a:solidFill>
              </a:defRPr>
            </a:pPr>
            <a:r>
              <a:t>•  Clean Code &amp; Resilience: Built structured JSON logging with correlation IDs and deep health checks to ensure production reliability.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2563EB"/>
                </a:solidFill>
              </a:defRPr>
            </a:pPr>
            <a:r>
              <a:t>BATCH-7 INTERNSHIP CLOSURE | COASTALSEVEN TECHNOLOGIES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0F172A"/>
                </a:solidFill>
              </a:defRPr>
            </a:pPr>
            <a:r>
              <a:t>Takeaways, Suggestions &amp; Gratitude</a:t>
            </a:r>
          </a:p>
        </p:txBody>
      </p:sp>
      <p:sp>
        <p:nvSpPr>
          <p:cNvPr id="4" name="Rounded Rectangle 3"/>
          <p:cNvSpPr/>
          <p:nvPr/>
        </p:nvSpPr>
        <p:spPr>
          <a:xfrm>
            <a:off x="731520" y="1645920"/>
            <a:ext cx="512064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206240"/>
          </a:xfrm>
          <a:prstGeom prst="rect">
            <a:avLst/>
          </a:prstGeom>
          <a:noFill/>
        </p:spPr>
        <p:txBody>
          <a:bodyPr wrap="square">
            <a:spAutoFit/>
          </a:bodyPr>
          <a:lstStyle/>
          <a:p>
            <a:pPr>
              <a:defRPr sz="1000" b="1">
                <a:solidFill>
                  <a:srgbClr val="2563EB"/>
                </a:solidFill>
              </a:defRPr>
            </a:pPr>
            <a:r>
              <a:t>REFLECTIONS</a:t>
            </a:r>
          </a:p>
          <a:p>
            <a:pPr>
              <a:spcAft>
                <a:spcPts val="1000"/>
              </a:spcAft>
              <a:defRPr sz="1600" b="1">
                <a:solidFill>
                  <a:srgbClr val="0F172A"/>
                </a:solidFill>
              </a:defRPr>
            </a:pPr>
            <a:r>
              <a:t>Key Takeaways &amp; Experience Feedback</a:t>
            </a:r>
          </a:p>
          <a:p>
            <a:pPr>
              <a:spcAft>
                <a:spcPts val="600"/>
              </a:spcAft>
              <a:defRPr sz="1300">
                <a:solidFill>
                  <a:srgbClr val="1E293B"/>
                </a:solidFill>
              </a:defRPr>
            </a:pPr>
            <a:r>
              <a:t>•  Practical, Hands-on Learning: The Knowledge Factory model of building real features daily made theoretical concepts stick immediately.</a:t>
            </a:r>
          </a:p>
          <a:p>
            <a:pPr>
              <a:spcAft>
                <a:spcPts val="600"/>
              </a:spcAft>
              <a:defRPr sz="1300">
                <a:solidFill>
                  <a:srgbClr val="1E293B"/>
                </a:solidFill>
              </a:defRPr>
            </a:pPr>
            <a:r>
              <a:t>•  Industry Standards: Working with Docker, Sentry, Redis, and Git CI/CD mirrors how world-class tech companies operate.</a:t>
            </a:r>
          </a:p>
          <a:p>
            <a:pPr>
              <a:spcAft>
                <a:spcPts val="600"/>
              </a:spcAft>
              <a:defRPr sz="1300">
                <a:solidFill>
                  <a:srgbClr val="1E293B"/>
                </a:solidFill>
              </a:defRPr>
            </a:pPr>
            <a:r>
              <a:t>•  Constructive Mentorship: The guidance from CoastalSeven mentors helped troubleshoot bottlenecks and elevated code quality.</a:t>
            </a:r>
          </a:p>
          <a:p>
            <a:pPr>
              <a:spcAft>
                <a:spcPts val="600"/>
              </a:spcAft>
              <a:defRPr sz="1300">
                <a:solidFill>
                  <a:srgbClr val="1E293B"/>
                </a:solidFill>
              </a:defRPr>
            </a:pPr>
            <a:r>
              <a:t>•  Suggestion: Adding an open-ended collaborative hackathon day would be an exciting addition for future batches!</a:t>
            </a:r>
          </a:p>
        </p:txBody>
      </p:sp>
      <p:sp>
        <p:nvSpPr>
          <p:cNvPr id="6" name="Rounded Rectangle 5"/>
          <p:cNvSpPr/>
          <p:nvPr/>
        </p:nvSpPr>
        <p:spPr>
          <a:xfrm>
            <a:off x="6217920" y="1645920"/>
            <a:ext cx="5212080" cy="45720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206240"/>
          </a:xfrm>
          <a:prstGeom prst="rect">
            <a:avLst/>
          </a:prstGeom>
          <a:noFill/>
        </p:spPr>
        <p:txBody>
          <a:bodyPr wrap="square">
            <a:spAutoFit/>
          </a:bodyPr>
          <a:lstStyle/>
          <a:p>
            <a:pPr>
              <a:defRPr sz="1000" b="1">
                <a:solidFill>
                  <a:srgbClr val="2563EB"/>
                </a:solidFill>
              </a:defRPr>
            </a:pPr>
            <a:r>
              <a:t>APPRECIATION</a:t>
            </a:r>
          </a:p>
          <a:p>
            <a:pPr>
              <a:spcAft>
                <a:spcPts val="1000"/>
              </a:spcAft>
              <a:defRPr sz="1600" b="1">
                <a:solidFill>
                  <a:srgbClr val="0F172A"/>
                </a:solidFill>
              </a:defRPr>
            </a:pPr>
            <a:r>
              <a:t>Heartfelt Gratitude</a:t>
            </a:r>
          </a:p>
          <a:p>
            <a:pPr>
              <a:spcAft>
                <a:spcPts val="600"/>
              </a:spcAft>
              <a:defRPr sz="1300">
                <a:solidFill>
                  <a:srgbClr val="1E293B"/>
                </a:solidFill>
              </a:defRPr>
            </a:pPr>
            <a:r>
              <a:t>•  To CoastalSeven Technologies: Thank you for organizing the Knowledge Factory Programme and investing in our growth.</a:t>
            </a:r>
          </a:p>
          <a:p>
            <a:pPr>
              <a:spcAft>
                <a:spcPts val="600"/>
              </a:spcAft>
              <a:defRPr sz="1300">
                <a:solidFill>
                  <a:srgbClr val="1E293B"/>
                </a:solidFill>
              </a:defRPr>
            </a:pPr>
            <a:r>
              <a:t>•  To Our Mentors &amp; Leaders: Thank you for your patience, daily code reviews, technical insights, and encouragement.</a:t>
            </a:r>
          </a:p>
          <a:p>
            <a:pPr>
              <a:spcAft>
                <a:spcPts val="600"/>
              </a:spcAft>
              <a:defRPr sz="1300">
                <a:solidFill>
                  <a:srgbClr val="1E293B"/>
                </a:solidFill>
              </a:defRPr>
            </a:pPr>
            <a:r>
              <a:t>•  To Fellow Batch-7 Interns: Thank you for the inspiring discussions, peer support, and camaraderie throughout this journey.</a:t>
            </a:r>
          </a:p>
          <a:p>
            <a:pPr>
              <a:spcAft>
                <a:spcPts val="600"/>
              </a:spcAft>
              <a:defRPr sz="1300">
                <a:solidFill>
                  <a:srgbClr val="1E293B"/>
                </a:solidFill>
              </a:defRPr>
            </a:pPr>
            <a:r>
              <a:t>•  Next Steps: Ready to leverage this full-stack, AI, and cloud expertise in my professional career ahead!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11680"/>
            <a:ext cx="9418320" cy="3200400"/>
          </a:xfrm>
          <a:prstGeom prst="rect">
            <a:avLst/>
          </a:prstGeom>
          <a:noFill/>
        </p:spPr>
        <p:txBody>
          <a:bodyPr wrap="square">
            <a:spAutoFit/>
          </a:bodyPr>
          <a:lstStyle/>
          <a:p>
            <a:pPr algn="ctr">
              <a:spcAft>
                <a:spcPts val="1600"/>
              </a:spcAft>
              <a:defRPr sz="4400" b="1">
                <a:solidFill>
                  <a:srgbClr val="FFFFFF"/>
                </a:solidFill>
              </a:defRPr>
            </a:pPr>
            <a:r>
              <a:t>THANK YOU!</a:t>
            </a:r>
          </a:p>
          <a:p>
            <a:pPr algn="ctr">
              <a:spcAft>
                <a:spcPts val="2400"/>
              </a:spcAft>
              <a:defRPr sz="1800">
                <a:solidFill>
                  <a:srgbClr val="0EA5E9"/>
                </a:solidFill>
              </a:defRPr>
            </a:pPr>
            <a:r>
              <a:t>CoastalSeven Technologies • Knowledge Factory Programme • Batch-7</a:t>
            </a:r>
          </a:p>
          <a:p>
            <a:pPr algn="ctr">
              <a:spcAft>
                <a:spcPts val="1600"/>
              </a:spcAft>
              <a:defRPr sz="1600">
                <a:solidFill>
                  <a:srgbClr val="E2E8F0"/>
                </a:solidFill>
              </a:defRPr>
            </a:pPr>
            <a:r>
              <a:t>Makkena Thriveni  |  Full-Stack &amp; Cloud Engineering Intern</a:t>
            </a:r>
          </a:p>
          <a:p>
            <a:pPr algn="ctr">
              <a:defRPr sz="2200" b="1">
                <a:solidFill>
                  <a:srgbClr val="10B981"/>
                </a:solidFill>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